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출생아 수</c:v>
                </c:pt>
              </c:strCache>
            </c:strRef>
          </c:tx>
          <c:spPr>
            <a:solidFill>
              <a:srgbClr val="E09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화성</c:v>
                  </c:pt>
                  <c:pt idx="1">
                    <c:v>수원</c:v>
                  </c:pt>
                  <c:pt idx="2">
                    <c:v>용인</c:v>
                  </c:pt>
                  <c:pt idx="3">
                    <c:v>고양</c:v>
                  </c:pt>
                  <c:pt idx="4">
                    <c:v>김포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8116</c:v>
                </c:pt>
                <c:pt idx="1">
                  <c:v>7060</c:v>
                </c:pt>
                <c:pt idx="2">
                  <c:v>5906</c:v>
                </c:pt>
                <c:pt idx="3">
                  <c:v>5522</c:v>
                </c:pt>
                <c:pt idx="4">
                  <c:v>2574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전국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전국 2019</c:v>
                  </c:pt>
                  <c:pt idx="1">
                    <c:v>전국 2020</c:v>
                  </c:pt>
                  <c:pt idx="2">
                    <c:v>전국 2021</c:v>
                  </c:pt>
                  <c:pt idx="3">
                    <c:v>경기 2024</c:v>
                  </c:pt>
                  <c:pt idx="4">
                    <c:v>경기 2025 상반기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42</c:v>
                </c:pt>
                <c:pt idx="2">
                  <c:v>48</c:v>
                </c:pt>
                <c:pt idx="3">
                  <c:v/>
                </c:pt>
                <c:pt idx="4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경기도</c:v>
                </c:pt>
              </c:strCache>
            </c:strRef>
          </c:tx>
          <c:spPr>
            <a:solidFill>
              <a:srgbClr val="E09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전국 2019</c:v>
                  </c:pt>
                  <c:pt idx="1">
                    <c:v>전국 2020</c:v>
                  </c:pt>
                  <c:pt idx="2">
                    <c:v>전국 2021</c:v>
                  </c:pt>
                  <c:pt idx="3">
                    <c:v>경기 2024</c:v>
                  </c:pt>
                  <c:pt idx="4">
                    <c:v>경기 2025 상반기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72</c:v>
                </c:pt>
                <c:pt idx="4">
                  <c:v>72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B2B2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따사로운 통합서비스 관리사 정기회의 · 2026. 9. 19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정기회의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D9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따사로운 통합서비스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19일(토)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따사로운 평생교육원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이세화 대표, 관리사 외 ○○명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출산 지원 축소 현황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산후조리비 50만원 종료 · 라형 지원 종료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819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 출생 현황 · 바우처 이용률 · 인근 지사 확대(직영)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소속 관리사 가사서비스 자격증 취득 계획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정리수납전문가 영역 확대 · 한부모·어르신 가정 서비스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849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관리사님께 듣는 현장의 소리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승급제(안) · 용어 검토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1865376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819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복장 기준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093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안 비교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542032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따사로운 로고에 대한 의견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데이터 DB화 · AI 매칭 시스템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1. 경기도 출산 지원 축소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산후조리비 50만원, 9월 30일 신청분으로 종료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30. 종료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출생아 1인당 50만원 산후조리비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10~12월 출산 가정은 받지 못함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4만 9천 명+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'기습 폐지 반대' 도민 청원 동의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나흘 만에 1만 6천 명, 도지사 답변 대상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+296억원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시술비로 예산 이동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지원 660억 → 956억원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060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5일 경기도 '재정 비상상황' 선언. 산후조리비 10~12월분 약 80억원이 미편성 상태였음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9일 발표: 추가 편성 대신 사업 종료. "첫만남이용권·시군 출산지원금과 중복"이 도의 설명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추미애 지사(9월 13일): "임의 삭감이 아니라 재정난 속 우선순위 조정"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대응이 갈림: 화성은 4분기 시 예산 지원 검토, 시흥·의왕·성남은 자체 50만원 유지, 평택·광주는 내년부터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김포시 자체 대응 방침: [회의 전 확인] 김포시 보건소 031-5186-4152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1. 경기도 출산 지원 축소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산모·신생아 건강관리 '라형(추가형)' 지원도 함께 종료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3774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후 (10월 1일~)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산모 영향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경기도 산후조리비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출생아 1인당 50만원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9/30 신청분까지만 지급, 이후 종료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4분기 출산 가정 50만원 감소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라형(추가형)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중위소득 150% 초과 가정에 도비·시군비 추가 지원 (2022년~)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9/30 신청분으로 종료, 10/1부터 신규 신청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150% 초과 산모 전액 본인부담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정부 기준 가·나·다형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중위소득 150% 이하 정부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변동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본인부담금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본인부담금 90% 지원 (2025년~, 예산 약 6.2억)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 여부 확인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보건소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도비 보조율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라형 도비 50% → 2026년 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10월부터 출산·돌봄 사업 도비 보조율 추가 축소 통보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시군 예산 부담 증가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경기도는 산후조리비·라형·난자동결 시술비·난임시술 중단 의료비 4개 사업을 정리하고 난임 지원에 집중. 산모·신생아 건강관리 전체 예산은 올해 970억원.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1. 경기도 출산 지원 축소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회사와 관리사님께 미치는 영향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예상되는 변화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라형 산모(중위소득 150% 초과)는 10월부터 전액 본인부담 → 이용 기간 단축·이용 포기 예상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산후조리비 50만원까지 사라져 4분기 출산 가정의 체감 부담 증가 → 본인부담금 협의, 기간 조정 요청 증가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 본인부담금 90% 지원의 유지 여부가 관건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 안내 요청 3가지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담당·상담 중인 라형 해당 산모는 9월 30일까지 신청 완료 안내 (출산예정일 40일 전부터 신청 가능)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출산 산모에게 산후조리비 50만원 신청 여부 확인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불만이 관리사님께 향할 수 있음. 정확한 사실만 전달하고 상세 문의는 사무국·김포시 보건소로 연결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2. 김포시 출생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출생은 전국·경기도 모두 반등, 김포시는 정체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254,500명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출생아 (2025년)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+6.8%, 합계출산율 0.80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13개월 연속 ↑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출생아 증가 (2026년 7월)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21,803명, 전년 동월 대비 +5.9%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2,574명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 출생 등록 (2025년)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2,715명 → 자연감소 141명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경기도 출생아 (2025년)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77,702명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주민등록 인구 (내국인)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48만 명대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통계청·행정안전부 기준 → [정확한 수치 기입]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총인구 (2025년 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517,351명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등록외국인·국내거소자 약 3만 명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조출생률 (계산치)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인구 1,000명당 약 5.0~5.3명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2024년 4.7명과 비슷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출생 등록 (2026년 1~8월)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인구브리핑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2. 김포시 출생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주요 시 출생아 수 (2025년)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9164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김포시는 인구 48만 도시지만 출생 규모는 화성의 1/3 수준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김포는 출생보다 사망이 많은 자연감소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 한 곳의 산모 수요만으로는 성장에 한계 → 인근 지사 확대(직영), 가사·돌봄 영역 확대 필요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국가데이터처 2025년 출생통계(시군), 김포시 주요통계(주민등록 출생등록)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2. 바우처 이용률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 이용률: 전국 40%대, 경기도 72%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188720"/>
          <a:ext cx="2743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40080"/>
                <a:gridCol w="594360"/>
                <a:gridCol w="457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인원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출생아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경기도 2024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51,113명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71,300명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경기도 2025 상반기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31,786명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44,368명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2021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125,675가구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260,562명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2025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2,574명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943600" y="3063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= 지원 인원 ÷ 같은 기간 출생아 수(계산치). 경기도가 높은 이유는 도 라형 지원과 시군 본인부담금 지원으로 보임. 이 지원이 줄어드는 10월 이후 이용률 하락 우려.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육아정책연구소(2022) 연도별 이용 가구, 경기도 지원 실적(2024년 51,113명·2025년 상반기 31,786명), 국가데이터처 출생통계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2. 바우처 이용률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 바우처 이용률 5개년 (회의 전 기입)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1417320"/>
                <a:gridCol w="1417320"/>
                <a:gridCol w="141732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김포시 출생아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바우처 지원 인원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이용률 (지원÷출생)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회사 담당 건수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회사 점유율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2,574명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1~8월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[계산]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구하는 곳  </a:t>
            </a:r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출생아 수: 김포시 인구브리핑·통계연보  |  지원 인원: 김포시 보건소 모자보건팀 031-5186-4152 또는 사회서비스 전자바우처 포털(socialservice.or.kr) 김포 제공기관별 이용자 수 합산  |  담당 건수: 우리 회사 내부 기록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비교: 전국 2021년 48%, 경기도 2024년 72%, 경기도 2025년 상반기 72%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2. 인근 지사 확대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인근 지사 확대(직영) 계획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출생아 수 반등은 전국·경기 흐름, 김포는 정체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지원 축소로 지역별 편차 확대, 고물가·저소득 가정의 서비스 접근성 저하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 한 곳 의존 구조에서 벗어나 수요 기반 확대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방식은 직영: 본사와 동일한 교육·배정·품질 기준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지역(안)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 예) 인천 검단·계양, 고양, 파주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개소 목표 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관리사 배치 인원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관리사 이동 근무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 희망자 우선, 교통비 지원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3749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 협의: 인근 지역 근무 희망자 사전 조사, 이동 거리에 따른 수당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3. 가사서비스 자격증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소속 관리사 가사서비스 자격증 취득 계획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122곳 / 3,607명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정부인증 가사서비스 제공기관 · 가사관리사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12월 기준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교육비 100%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가사서비스종합지원센터 무료 직무교육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2022. 6. 16.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가사근로자법 시행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정부인증기관 소속 시 4대보험·근로자 보호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조사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전원 취득 희망·시간대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39696" y="265176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BEBD3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49424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11~12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49424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교육기관 선정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49424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교육·민간 자격 비교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22192" y="265176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이수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기수별, 근무 일정 조정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04688" y="265176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BEBD3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14416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상반기~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14416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취득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14416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응시료·교재비 지원 [기입]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87184" y="265176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96912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하반기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96912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정부인증 신청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296912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제공기관 인증 검토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효과: 산후관리 비수기에 가사서비스로 근무 연속성 확보, 관리사 소득 안정, 회사 서비스 영역 확대.  협의: 교육 중 근무 조정, 지원 범위, 자격 취득자 수당(승급제 연계). 외국인 가사관리사 본사업은 추진하지 않기로 결정(2025.12) → 국내 관리사에 기회.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4. 서비스 영역 확대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정리수납전문가 확대 · 김포시 한부모·어르신 가정 서비스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정리수납전문가 영역 확대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가정에서 이미 하는 정리·수납 역량을 자격화, 독립 서비스 상품으로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계획: 희망자 조사 → 교육 → 시범 서비스(이사·입주 정리, 아이방, 어르신 가정) → 요금표·서비스 기준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협의: 교육비 지원 범위, 시범 참여 관리사 선정 기준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한부모·어르신 가정 서비스(예정)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가능 공공사업: 가사·간병 방문지원(중위소득 70% 이하, 65세 미만, 한부모·조손가정. 월 24~27시간 바우처, 1년 단위)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 가족센터: 한부모가족 지원 연계 창구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노인맞춤돌봄·경기도 통합돌봄: 도비 보조율 조정 대상 → 시 예산 확인 필요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계획: 김포시·가족센터 협의 → 제공기관 등록 요건 확인 → 담당 관리사 선발·교육(어르신 응대, 안전, 개인정보) → 시범 운영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확인: 참여 희망 여부, 필요한 교육(치매·낙상 예방, 아동 안전)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5. 현장 의견 청취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관리사님께 듣는 현장의 소리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이용후기는 늘 듣지만, 정작 현장에서 일하시는 관리사님의 이야기를 들을 자리가 부족했습니다. 회의 중 말씀이 어려우면 무기명 의견지로 제출하셔도 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373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현장에서 가장 힘든 점은? (산모·가족 응대, 업무 범위, 이동 거리, 근무 시간)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231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범위를 넘는 요구(가족 식사, 큰아이 돌봄, 대청소)에 어떻게 대응하고 계십니까?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1089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 방식(거리, 연속 배정, 휴식 간격)에서 개선할 점은?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947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현장에서 실제로 도움이 된 것과 부족했던 것은?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7647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7373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산모·가족과 갈등이 있었을 때 회사의 대응은 충분했습니까?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4231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자랑스러웠던 순간, 보람을 느낀 순간을 나눠 주십시오.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36392"/>
            <a:ext cx="347472" cy="347472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1089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바라는 점 한 가지를 꼽는다면?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담당: [기입]  ·  접수된 의견은 정리해 다음 회의에서 조치 결과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6. 관리사 승급제(안) · 용어 검토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'등급제'가 아니라 '승급제'로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용어를 바꾸나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'등급'은 한우 등급·신용 등급처럼 물건과 서비스의 품질을 나누는 말. 사람에게 쓰면 서열을 매기는 느낌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산모에게 "3등급 관리사"로 노출되면 낮은 단계 관리사의 신뢰가 깎임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직급 체계 자체는 문제없음. 이름만 '평가'가 아니라 '성장'이 보이게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관리사 승급제 / 경력 단계제 / 전문성 인증 단계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210312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명칭(안)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 1년 미만, 기본 교육 이수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관리사 배정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햇살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경력 1년+, 보수교육, 무사고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 우선순위 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경력 3년+, 추가 자격 1개, 고객만족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수당 [기입]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따사로운 마스터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경력 5년+, 멘토링 참여, 추가 자격 2개+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수당·특별 배정·교육 강사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93192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승급만 있고 강등은 없음. 기준 공개. 산모 평점만이 아니라 동료·사무국 평가와 교육 이수를 함께 반영.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협의: 단계별 수당, 시행 시기(2027년 1월 안), 기존 관리사 초기 단계 배정.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7. 관리사 복장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복장: 세 가지 안 비교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31720"/>
                <a:gridCol w="2377440"/>
                <a:gridCol w="2331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A안. 산후조리원 조리사형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B안. 흰 티셔츠 + 앞치마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C안. 상·하의 통일(바지까지)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스크럽·조리복 형태 상의(회사 색상) + 단색 바지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로고 흰 티셔츠 + 로고 앞치마, 하의는 개인 단색 바지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상의 + 회사 지급 바지, 앞치마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 기관 인상, 위생적으로 보임, 세탁·건조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낮음, 착용 부담 적음, 가정 방문에 자연스러움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통일감 최고, 사진·홍보에 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가정에서 다소 딱딱한 인상, 여름에 더움, 초기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흰색이라 오염 잘 보임, 티셔츠만으로는 전문성 약함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가장 큼, 체형별 사이즈·교체 관리 부담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비용(1인)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[기입]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결정할 것: ① 바지까지 통일할지 ② 색상(흰색 vs 오염이 덜 보이는 밝은 베이지·연회색) ③ 지급 수량(하절기·동절기 각 2벌 등)과 교체 주기, 자비 부담 여부 ④ 로고 부착 위치(가슴, 앞치마 상단)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7. 관리사 복장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위생·용모 기준(안)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이름·소속 명찰 패용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활동이 편한 단색 바지, 청바지·반바지 제외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실내용 덧신 또는 개인 실내화 지참, 외부 신발 실내 착용 금지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손톱 짧게, 매니큐어·향수·긴 액세서리 자제, 머리는 묶기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외투·물품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외투는 현관에서 정리, 산모 가정에 개인 물품 두지 않기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업무용 외 사용 자제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점검: 복장 관련 산모 의견·현장 사례 [사무국 기입]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8. 로고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따사로운 로고에 대한 의견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BEBD3"/>
          </a:solidFill>
          <a:ln w="12700">
            <a:solidFill>
              <a:srgbClr val="E0902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로고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(여기에 넣어 화면으로 함께 보기)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188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로고는 유니폼·명함·차량·홍보물·AI 매칭 시스템 화면에 모두 쓰입니다. 아래 항목에 대해 말씀해 주십시오.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8308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첫인상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따뜻함·신뢰감이 느껴지는지, 산모·어르신 두 고객층 모두에게 어울리는지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가독성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작게 인쇄(명찰, 앞치마 자수)해도 잘 보이는지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유니폼 색상과 어울리는지, 흰 옷 위에서 잘 보이는지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확장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가사·정리수납·어르신 돌봄까지 포괄하는 인상인지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여부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유지 / 일부 수정 / 새로 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84048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 수렴: 회의 중 거수 또는 무기명 의견지. 유니폼 제작 전에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9. AI 매칭 시스템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데이터 DB화 · AI 매칭 시스템 준비 현황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날짜·시간·업종(산후관리·가사·정리수납·어르신 돌봄)·관리사 성향까지 반영해 AI가 가장 맞는 관리사를 추천하는 시스템을 준비 중입니다. 목적은 배정의 공정성과 속도, 관리사님이 원하는 근무 조건의 반영, 성향 불일치로 생기는 갈등 감소입니다.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항목(안)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2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이름, 연락처, 거주 지역, 이동 가능 범위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 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요일·시간대, 희망 업종, 연속 근무 가능 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본인이 직접 입력·수정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자격·교육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산모신생아 건강관리사, 가사관리사, 정리수납, 요양보호사 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안건 3·4·6 연계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경력, 담당 건수, 쌍둥이·미숙아·제왕절개 등 특수 경험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조용한/활발한, 요리 강점, 신생아 케어 강점, 반려동물 가능 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진단 + 사무국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산모 평가, 재요청 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승급제 연계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874520"/>
            <a:ext cx="2834640" cy="2514600"/>
          </a:xfrm>
          <a:prstGeom prst="roundRect">
            <a:avLst>
              <a:gd name="adj" fmla="val 2909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관리사님께 드리는 약속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33172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항목·목적 설명 후 서면 동의. 원치 않는 항목은 비워 둘 수 있음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성향·평가 정보는 배정 참고용, 산모에게 공개하지 않음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추천은 사무국이 최종 확인 후 배정. 이의 제기 가능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정보는 언제든 열람·수정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9. AI 매칭 시스템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매칭 시스템 일정(안)과 오늘 여쭙는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확정 · 동의서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[시기 기입] 오늘 의견 반영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37160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 정보 입력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[시기 기입] 사무국이 입력 지원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37160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매칭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[시기 기입] 일부 배정에 적용, 사무국 배정과 비교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371600"/>
            <a:ext cx="384048" cy="384048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운영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[시기 기입]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여쭙는 것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3832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입력하기 부담스러운 항목이 있는지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 항목을 어떻게 표현하면 좋을지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운영에 참여해 주실 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0902E"/>
          </a:solidFill>
          <a:ln w="12700">
            <a:solidFill>
              <a:srgbClr val="E09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참석해 주신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관리사님들께 감사드립니다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정기회의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[기입]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9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사항 공유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접수한 의견과 결정 사항은 정리해 관리사 단체방에 공유합니다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2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자료(출처)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헤럴드경제·이투데이·경인일보·베이비뉴스·매일일보·로컬세계·인사이트·머니투데이 (2026. 9.) 경기도 산후조리비 종료, 라형 지원 종료, 도비 보조율 축소 관련 보도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모자보건사업 재정비 보도(시사오늘 외): 산모신생아 건강관리 2024년 619억원·51,113명, 2025년 상반기 31,786명, 상반기 출생아 44,368명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김포시청 주요통계·통계로 보는 김포 (2025. 12. 31. 기준 출생·사망·총인구), 김포시보건소 본인부담금 지원 안내, 일간경기(김포시 예산 6.2억원)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 2025년 출생·사망통계(잠정), 2026년 7월 인구동향, 서울Pn(경기도 시군별 출생아 수)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육아정책연구소(2022) 산모·신생아 건강관리 지원사업 개선 및 활성화 방안 (연도별 이용 가구)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 2026년 산모신생아 건강관리 지원사업 안내, 복지로 가사·간병 방문지원사업, 가사서비스종합지원센터(NESA), 가사랑, 경향신문(외국인 가사관리사 본사업 미추진)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통계청·김포시청 사이트 직접 접속이 제한된 환경에서 검색 요약으로 교차 확인한 수치입니다. 김포시 세부 수치는 회의 전 원문 확인을 권장합니다.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5A5A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따사로운 통합서비스 관리사 정기회의 2026-09-19</dc:title>
  <dc:subject>PptxGenJS Presentation</dc:subject>
  <dc:creator>따사로운 통합서비스</dc:creator>
  <cp:lastModifiedBy>따사로운 통합서비스</cp:lastModifiedBy>
  <cp:revision>1</cp:revision>
  <dcterms:created xsi:type="dcterms:W3CDTF">2026-09-19T01:47:16Z</dcterms:created>
  <dcterms:modified xsi:type="dcterms:W3CDTF">2026-09-19T01:47:16Z</dcterms:modified>
</cp:coreProperties>
</file>